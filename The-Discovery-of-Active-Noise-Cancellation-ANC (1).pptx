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Overpass Bold" panose="020B0604020202020204" charset="0"/>
      <p:regular r:id="rId19"/>
    </p:embeddedFont>
    <p:embeddedFont>
      <p:font typeface="Overpass Light" panose="020B0604020202020204" charset="0"/>
      <p:regular r:id="rId20"/>
    </p:embeddedFont>
    <p:embeddedFont>
      <p:font typeface="Syne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0DE"/>
    <a:srgbClr val="FFF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F9F14C-9404-4435-BF51-CA4D52B55653}" v="7" dt="2026-08-25T17:06:16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 Bansal" userId="9222d9814f9d21ab" providerId="LiveId" clId="{D7F9F14C-9404-4435-BF51-CA4D52B55653}"/>
    <pc:docChg chg="modSld">
      <pc:chgData name="Hemant Bansal" userId="9222d9814f9d21ab" providerId="LiveId" clId="{D7F9F14C-9404-4435-BF51-CA4D52B55653}" dt="2026-08-25T17:07:09.110" v="12" actId="1076"/>
      <pc:docMkLst>
        <pc:docMk/>
      </pc:docMkLst>
      <pc:sldChg chg="addSp modSp mod">
        <pc:chgData name="Hemant Bansal" userId="9222d9814f9d21ab" providerId="LiveId" clId="{D7F9F14C-9404-4435-BF51-CA4D52B55653}" dt="2026-08-25T17:05:33.845" v="2" actId="2085"/>
        <pc:sldMkLst>
          <pc:docMk/>
          <pc:sldMk cId="0" sldId="256"/>
        </pc:sldMkLst>
        <pc:spChg chg="add mod">
          <ac:chgData name="Hemant Bansal" userId="9222d9814f9d21ab" providerId="LiveId" clId="{D7F9F14C-9404-4435-BF51-CA4D52B55653}" dt="2026-08-25T17:05:33.845" v="2" actId="2085"/>
          <ac:spMkLst>
            <pc:docMk/>
            <pc:sldMk cId="0" sldId="256"/>
            <ac:spMk id="8" creationId="{ACFEA220-7F66-2C8B-E4CE-34F4E7927CCE}"/>
          </ac:spMkLst>
        </pc:spChg>
      </pc:sldChg>
      <pc:sldChg chg="addSp modSp">
        <pc:chgData name="Hemant Bansal" userId="9222d9814f9d21ab" providerId="LiveId" clId="{D7F9F14C-9404-4435-BF51-CA4D52B55653}" dt="2026-08-25T17:05:43.206" v="3"/>
        <pc:sldMkLst>
          <pc:docMk/>
          <pc:sldMk cId="0" sldId="258"/>
        </pc:sldMkLst>
        <pc:spChg chg="add mod">
          <ac:chgData name="Hemant Bansal" userId="9222d9814f9d21ab" providerId="LiveId" clId="{D7F9F14C-9404-4435-BF51-CA4D52B55653}" dt="2026-08-25T17:05:43.206" v="3"/>
          <ac:spMkLst>
            <pc:docMk/>
            <pc:sldMk cId="0" sldId="258"/>
            <ac:spMk id="17" creationId="{76AEC885-31E8-816A-CC75-8D06AC48589F}"/>
          </ac:spMkLst>
        </pc:spChg>
      </pc:sldChg>
      <pc:sldChg chg="addSp modSp">
        <pc:chgData name="Hemant Bansal" userId="9222d9814f9d21ab" providerId="LiveId" clId="{D7F9F14C-9404-4435-BF51-CA4D52B55653}" dt="2026-08-25T17:05:54.004" v="4"/>
        <pc:sldMkLst>
          <pc:docMk/>
          <pc:sldMk cId="0" sldId="260"/>
        </pc:sldMkLst>
        <pc:spChg chg="add mod">
          <ac:chgData name="Hemant Bansal" userId="9222d9814f9d21ab" providerId="LiveId" clId="{D7F9F14C-9404-4435-BF51-CA4D52B55653}" dt="2026-08-25T17:05:54.004" v="4"/>
          <ac:spMkLst>
            <pc:docMk/>
            <pc:sldMk cId="0" sldId="260"/>
            <ac:spMk id="24" creationId="{13A667FA-4E1B-F2C5-0985-E9786BDDE490}"/>
          </ac:spMkLst>
        </pc:spChg>
      </pc:sldChg>
      <pc:sldChg chg="addSp modSp mod">
        <pc:chgData name="Hemant Bansal" userId="9222d9814f9d21ab" providerId="LiveId" clId="{D7F9F14C-9404-4435-BF51-CA4D52B55653}" dt="2026-08-25T17:05:58.939" v="6" actId="1076"/>
        <pc:sldMkLst>
          <pc:docMk/>
          <pc:sldMk cId="0" sldId="261"/>
        </pc:sldMkLst>
        <pc:spChg chg="add mod">
          <ac:chgData name="Hemant Bansal" userId="9222d9814f9d21ab" providerId="LiveId" clId="{D7F9F14C-9404-4435-BF51-CA4D52B55653}" dt="2026-08-25T17:05:57.194" v="5"/>
          <ac:spMkLst>
            <pc:docMk/>
            <pc:sldMk cId="0" sldId="261"/>
            <ac:spMk id="25" creationId="{FA45CD80-F08D-A809-116E-AA25B175AF1A}"/>
          </ac:spMkLst>
        </pc:spChg>
        <pc:picChg chg="mod">
          <ac:chgData name="Hemant Bansal" userId="9222d9814f9d21ab" providerId="LiveId" clId="{D7F9F14C-9404-4435-BF51-CA4D52B55653}" dt="2026-08-25T17:05:58.939" v="6" actId="1076"/>
          <ac:picMkLst>
            <pc:docMk/>
            <pc:sldMk cId="0" sldId="261"/>
            <ac:picMk id="3" creationId="{00000000-0000-0000-0000-000000000000}"/>
          </ac:picMkLst>
        </pc:picChg>
      </pc:sldChg>
      <pc:sldChg chg="addSp modSp">
        <pc:chgData name="Hemant Bansal" userId="9222d9814f9d21ab" providerId="LiveId" clId="{D7F9F14C-9404-4435-BF51-CA4D52B55653}" dt="2026-08-25T17:06:02.973" v="7"/>
        <pc:sldMkLst>
          <pc:docMk/>
          <pc:sldMk cId="0" sldId="262"/>
        </pc:sldMkLst>
        <pc:spChg chg="add mod">
          <ac:chgData name="Hemant Bansal" userId="9222d9814f9d21ab" providerId="LiveId" clId="{D7F9F14C-9404-4435-BF51-CA4D52B55653}" dt="2026-08-25T17:06:02.973" v="7"/>
          <ac:spMkLst>
            <pc:docMk/>
            <pc:sldMk cId="0" sldId="262"/>
            <ac:spMk id="16" creationId="{4763F367-574C-A0D0-CF50-52654FD87D90}"/>
          </ac:spMkLst>
        </pc:spChg>
      </pc:sldChg>
      <pc:sldChg chg="addSp modSp">
        <pc:chgData name="Hemant Bansal" userId="9222d9814f9d21ab" providerId="LiveId" clId="{D7F9F14C-9404-4435-BF51-CA4D52B55653}" dt="2026-08-25T17:06:05.307" v="8"/>
        <pc:sldMkLst>
          <pc:docMk/>
          <pc:sldMk cId="0" sldId="263"/>
        </pc:sldMkLst>
        <pc:spChg chg="add mod">
          <ac:chgData name="Hemant Bansal" userId="9222d9814f9d21ab" providerId="LiveId" clId="{D7F9F14C-9404-4435-BF51-CA4D52B55653}" dt="2026-08-25T17:06:05.307" v="8"/>
          <ac:spMkLst>
            <pc:docMk/>
            <pc:sldMk cId="0" sldId="263"/>
            <ac:spMk id="15" creationId="{3FA852C5-37B7-4D8F-F885-67C6B24E90D6}"/>
          </ac:spMkLst>
        </pc:spChg>
      </pc:sldChg>
      <pc:sldChg chg="addSp modSp">
        <pc:chgData name="Hemant Bansal" userId="9222d9814f9d21ab" providerId="LiveId" clId="{D7F9F14C-9404-4435-BF51-CA4D52B55653}" dt="2026-08-25T17:06:10.159" v="9"/>
        <pc:sldMkLst>
          <pc:docMk/>
          <pc:sldMk cId="0" sldId="265"/>
        </pc:sldMkLst>
        <pc:spChg chg="add mod">
          <ac:chgData name="Hemant Bansal" userId="9222d9814f9d21ab" providerId="LiveId" clId="{D7F9F14C-9404-4435-BF51-CA4D52B55653}" dt="2026-08-25T17:06:10.159" v="9"/>
          <ac:spMkLst>
            <pc:docMk/>
            <pc:sldMk cId="0" sldId="265"/>
            <ac:spMk id="24" creationId="{7508BCC4-501B-CA1F-E25E-5B0F01D8EC53}"/>
          </ac:spMkLst>
        </pc:spChg>
      </pc:sldChg>
      <pc:sldChg chg="addSp modSp mod">
        <pc:chgData name="Hemant Bansal" userId="9222d9814f9d21ab" providerId="LiveId" clId="{D7F9F14C-9404-4435-BF51-CA4D52B55653}" dt="2026-08-25T17:07:09.110" v="12" actId="1076"/>
        <pc:sldMkLst>
          <pc:docMk/>
          <pc:sldMk cId="0" sldId="267"/>
        </pc:sldMkLst>
        <pc:spChg chg="add mod">
          <ac:chgData name="Hemant Bansal" userId="9222d9814f9d21ab" providerId="LiveId" clId="{D7F9F14C-9404-4435-BF51-CA4D52B55653}" dt="2026-08-25T17:07:09.110" v="12" actId="1076"/>
          <ac:spMkLst>
            <pc:docMk/>
            <pc:sldMk cId="0" sldId="267"/>
            <ac:spMk id="7" creationId="{6012F858-819F-CB4F-24CA-25AE3EA6AA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50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E6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DEE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00015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Discovery of Active Noise Cancellation (ANC)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05556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How Technology Learned to Cancel Unwanted Sound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570611"/>
            <a:ext cx="322958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2244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6765" y="4627265"/>
            <a:ext cx="361236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JOURNEY FROM PHYSICS TO INNOVATION</a:t>
            </a:r>
            <a:endParaRPr lang="en-US" sz="11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FEA220-7F66-2C8B-E4CE-34F4E7927CCE}"/>
              </a:ext>
            </a:extLst>
          </p:cNvPr>
          <p:cNvSpPr/>
          <p:nvPr/>
        </p:nvSpPr>
        <p:spPr>
          <a:xfrm>
            <a:off x="11052313" y="6567777"/>
            <a:ext cx="1087491" cy="214686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DEE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799" y="134938"/>
            <a:ext cx="4391907" cy="65880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Problem: Why Passive Isolation Fails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911548"/>
            <a:ext cx="6296860" cy="13584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8549" y="211703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Passive Barriers Fall Short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968549" y="2501503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Foam and earplugs excel at high-frequency attenuation but fail catastrophically against low-frequency energy.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41601"/>
            <a:ext cx="6296860" cy="13584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8549" y="364708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Low-Frequency Penetration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68549" y="4031555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Jet engines, industrial machinery, road rumble — these sounds (20 Hz = 17m wavelength) pass right through foam.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971653"/>
            <a:ext cx="6296860" cy="13584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8549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 Different Approach Needed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968549" y="556160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Not block sound — </a:t>
            </a:r>
            <a:r>
              <a:rPr lang="en-US" sz="14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cancel it</a:t>
            </a: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. A fundamentally new physics-based solution was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40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Destructive Interference: The Core Principle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29644"/>
            <a:ext cx="6910810" cy="25018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8767" y="4120755"/>
            <a:ext cx="1731234" cy="216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Anti-Noise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68767" y="3366688"/>
            <a:ext cx="1731234" cy="216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Phase Inversion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68767" y="2604926"/>
            <a:ext cx="1731234" cy="216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Original Noise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1475" y="4924623"/>
            <a:ext cx="691081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When two acoustic waves of equal amplitude are shifted 180° out of phase, they cancel perfectly — </a:t>
            </a:r>
            <a:r>
              <a:rPr lang="en-US" sz="14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silence emerges from sound.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18163" y="1584226"/>
            <a:ext cx="3518308" cy="1107480"/>
          </a:xfrm>
          <a:prstGeom prst="roundRect">
            <a:avLst>
              <a:gd name="adj" fmla="val 6832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04590" y="1770658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Magic Formula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04590" y="2223790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 sin(ωt) + A sin(ωt + π) = 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18163" y="2863354"/>
            <a:ext cx="3518308" cy="1388963"/>
          </a:xfrm>
          <a:prstGeom prst="roundRect">
            <a:avLst>
              <a:gd name="adj" fmla="val 5448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04590" y="3049786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Superposition Principle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204590" y="3502918"/>
            <a:ext cx="314545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Acoustic pressures add algebraically — invert and add back for silence.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18163" y="4423966"/>
            <a:ext cx="3518308" cy="1670447"/>
          </a:xfrm>
          <a:prstGeom prst="roundRect">
            <a:avLst>
              <a:gd name="adj" fmla="val 4530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4590" y="4610398"/>
            <a:ext cx="3145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Coherence Requirement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204590" y="5063530"/>
            <a:ext cx="3145453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Anti-noise must precisely match the original noise's frequency and amplitude.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AEC885-31E8-816A-CC75-8D06AC48589F}"/>
              </a:ext>
            </a:extLst>
          </p:cNvPr>
          <p:cNvSpPr/>
          <p:nvPr/>
        </p:nvSpPr>
        <p:spPr>
          <a:xfrm>
            <a:off x="11052313" y="6567777"/>
            <a:ext cx="1087491" cy="214686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DEE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318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Pioneer: Paul Lueg (1933)</a:t>
            </a:r>
            <a:endParaRPr lang="en-US" sz="3250" dirty="0"/>
          </a:p>
        </p:txBody>
      </p:sp>
      <p:sp>
        <p:nvSpPr>
          <p:cNvPr id="5" name="Shape 2"/>
          <p:cNvSpPr/>
          <p:nvPr/>
        </p:nvSpPr>
        <p:spPr>
          <a:xfrm>
            <a:off x="847505" y="1823641"/>
            <a:ext cx="19050" cy="4461173"/>
          </a:xfrm>
          <a:prstGeom prst="roundRect">
            <a:avLst>
              <a:gd name="adj" fmla="val 49999"/>
            </a:avLst>
          </a:prstGeom>
          <a:solidFill>
            <a:srgbClr val="C3D4CC"/>
          </a:solidFill>
          <a:ln/>
        </p:spPr>
      </p:sp>
      <p:sp>
        <p:nvSpPr>
          <p:cNvPr id="6" name="Shape 3"/>
          <p:cNvSpPr/>
          <p:nvPr/>
        </p:nvSpPr>
        <p:spPr>
          <a:xfrm>
            <a:off x="1014486" y="2000151"/>
            <a:ext cx="496081" cy="19050"/>
          </a:xfrm>
          <a:prstGeom prst="roundRect">
            <a:avLst>
              <a:gd name="adj" fmla="val 49999"/>
            </a:avLst>
          </a:prstGeom>
          <a:solidFill>
            <a:srgbClr val="C3D4CC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182364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3485" y="185464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674473" y="1880493"/>
            <a:ext cx="5283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1933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74473" y="2225774"/>
            <a:ext cx="52838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German Patent DRP No. 655,508 — first documented patent for acoustic cancellation in ducts.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14486" y="3187799"/>
            <a:ext cx="496081" cy="19050"/>
          </a:xfrm>
          <a:prstGeom prst="roundRect">
            <a:avLst>
              <a:gd name="adj" fmla="val 49999"/>
            </a:avLst>
          </a:prstGeom>
          <a:solidFill>
            <a:srgbClr val="C3D4CC"/>
          </a:solidFill>
          <a:ln/>
        </p:spPr>
      </p:sp>
      <p:sp>
        <p:nvSpPr>
          <p:cNvPr id="12" name="Shape 9"/>
          <p:cNvSpPr/>
          <p:nvPr/>
        </p:nvSpPr>
        <p:spPr>
          <a:xfrm>
            <a:off x="661475" y="301128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3485" y="304229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674473" y="3068141"/>
            <a:ext cx="5283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1936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674473" y="3413423"/>
            <a:ext cx="52838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 Patent 2,043,416 — upstream microphones detect noise, phase inverted, anti-noise broadcast downstream.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14486" y="4375448"/>
            <a:ext cx="496081" cy="19050"/>
          </a:xfrm>
          <a:prstGeom prst="roundRect">
            <a:avLst>
              <a:gd name="adj" fmla="val 49999"/>
            </a:avLst>
          </a:prstGeom>
          <a:solidFill>
            <a:srgbClr val="C3D4CC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475" y="419893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3485" y="422994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674473" y="4255790"/>
            <a:ext cx="5283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Concept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674473" y="4601071"/>
            <a:ext cx="52838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Canceling periodic, stationary noise in confined spaces — ducts, pipes, aircraft fuselages.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14486" y="5563096"/>
            <a:ext cx="496081" cy="19050"/>
          </a:xfrm>
          <a:prstGeom prst="roundRect">
            <a:avLst>
              <a:gd name="adj" fmla="val 49999"/>
            </a:avLst>
          </a:prstGeom>
          <a:solidFill>
            <a:srgbClr val="C3D4CC"/>
          </a:solidFill>
          <a:ln/>
        </p:spPr>
      </p:sp>
      <p:sp>
        <p:nvSpPr>
          <p:cNvPr id="22" name="Shape 19"/>
          <p:cNvSpPr/>
          <p:nvPr/>
        </p:nvSpPr>
        <p:spPr>
          <a:xfrm>
            <a:off x="661475" y="5386586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3485" y="541759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674473" y="5443438"/>
            <a:ext cx="5283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Limitation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674473" y="5788720"/>
            <a:ext cx="52838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Purely analog — no real-time adaptation, no feedback control, no adaptability.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337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Lueg's System Architecture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94607"/>
            <a:ext cx="6925990" cy="33855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5801" y="3259458"/>
            <a:ext cx="1614661" cy="201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Reference Mic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651940" y="2484402"/>
            <a:ext cx="1614661" cy="201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Phase Inverter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48394" y="4077574"/>
            <a:ext cx="1614661" cy="201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Amplifier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948729" y="4866983"/>
            <a:ext cx="1667474" cy="201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Canceling Speaker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990084" y="1504255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50954" y="1534666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494996" y="1560016"/>
            <a:ext cx="304157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Reference Microphone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94996" y="1953320"/>
            <a:ext cx="304157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Samples incoming noise </a:t>
            </a:r>
            <a:r>
              <a:rPr lang="en-US" sz="125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before</a:t>
            </a: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it reaches the ear — the critical first capture.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90084" y="2715617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50954" y="2746028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494996" y="2771378"/>
            <a:ext cx="304157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Inverter Circuit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494996" y="3164681"/>
            <a:ext cx="304157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Flips the signal exactly 180° and adjusts amplitude for perfect cancellation.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90084" y="3926979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50954" y="3957389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494996" y="3982740"/>
            <a:ext cx="304157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Amplifier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494996" y="4376043"/>
            <a:ext cx="304157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Boosts the inverted signal to match the original noise's acoustic power.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90084" y="5138341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50954" y="5168751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8494996" y="5194102"/>
            <a:ext cx="304157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Canceling Speaker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494996" y="5587405"/>
            <a:ext cx="304157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Broadcasts the anti-noise directly into the acoustic space — silence achieved.</a:t>
            </a:r>
            <a:endParaRPr lang="en-US" sz="12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A667FA-4E1B-F2C5-0985-E9786BDDE490}"/>
              </a:ext>
            </a:extLst>
          </p:cNvPr>
          <p:cNvSpPr/>
          <p:nvPr/>
        </p:nvSpPr>
        <p:spPr>
          <a:xfrm>
            <a:off x="11052313" y="6567777"/>
            <a:ext cx="1087491" cy="214686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DEE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" y="47542"/>
            <a:ext cx="4444889" cy="666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5087"/>
            <a:ext cx="629686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Early ANC Stalled (1930s–1950s)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233360" y="1456829"/>
            <a:ext cx="6296860" cy="1152525"/>
          </a:xfrm>
          <a:prstGeom prst="roundRect">
            <a:avLst>
              <a:gd name="adj" fmla="val 4628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66707" y="1590179"/>
            <a:ext cx="380990" cy="381000"/>
          </a:xfrm>
          <a:prstGeom prst="ellipse">
            <a:avLst/>
          </a:prstGeom>
          <a:solidFill>
            <a:srgbClr val="22443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1480" y="1694954"/>
            <a:ext cx="171446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6707" y="2056507"/>
            <a:ext cx="603016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Analog Phase Lag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66707" y="2306141"/>
            <a:ext cx="6030166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Vacuum-tube circuits introduced unpredictable delays — phase alignment was nearly impossible.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233360" y="2694682"/>
            <a:ext cx="6296860" cy="1152525"/>
          </a:xfrm>
          <a:prstGeom prst="roundRect">
            <a:avLst>
              <a:gd name="adj" fmla="val 4628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66707" y="2828032"/>
            <a:ext cx="380990" cy="381000"/>
          </a:xfrm>
          <a:prstGeom prst="ellipse">
            <a:avLst/>
          </a:prstGeom>
          <a:solidFill>
            <a:srgbClr val="22443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1480" y="2932807"/>
            <a:ext cx="171446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6707" y="3294360"/>
            <a:ext cx="603016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Acoustic Feedback Loops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66707" y="3543995"/>
            <a:ext cx="6030166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Without digital control, systems oscillated — amplifying noise instead of canceling it.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233360" y="3932535"/>
            <a:ext cx="6296860" cy="1152525"/>
          </a:xfrm>
          <a:prstGeom prst="roundRect">
            <a:avLst>
              <a:gd name="adj" fmla="val 4628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66707" y="4065885"/>
            <a:ext cx="380990" cy="381000"/>
          </a:xfrm>
          <a:prstGeom prst="ellipse">
            <a:avLst/>
          </a:prstGeom>
          <a:solidFill>
            <a:srgbClr val="224435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1480" y="4170660"/>
            <a:ext cx="171446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6707" y="4532213"/>
            <a:ext cx="603016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 Adaptive Capability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66707" y="4781848"/>
            <a:ext cx="6030166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Manual tuning only — impossible to adjust in real-time as conditions changed.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233360" y="5170388"/>
            <a:ext cx="6296860" cy="1152525"/>
          </a:xfrm>
          <a:prstGeom prst="roundRect">
            <a:avLst>
              <a:gd name="adj" fmla="val 4628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66707" y="5303738"/>
            <a:ext cx="380990" cy="381000"/>
          </a:xfrm>
          <a:prstGeom prst="ellipse">
            <a:avLst/>
          </a:prstGeom>
          <a:solidFill>
            <a:srgbClr val="224435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71480" y="5408513"/>
            <a:ext cx="171446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6707" y="5770066"/>
            <a:ext cx="603016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 &amp; Size Constraints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66707" y="6019701"/>
            <a:ext cx="6030166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Bulky, power-hungry analog electronics — completely impractical for portable use.</a:t>
            </a:r>
            <a:endParaRPr lang="en-US" sz="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45CD80-F08D-A809-116E-AA25B175AF1A}"/>
              </a:ext>
            </a:extLst>
          </p:cNvPr>
          <p:cNvSpPr/>
          <p:nvPr/>
        </p:nvSpPr>
        <p:spPr>
          <a:xfrm>
            <a:off x="11052313" y="6567777"/>
            <a:ext cx="1087491" cy="214686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4751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Turning Point: Aviation &amp; Industrial Needs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7797"/>
            <a:ext cx="3527734" cy="35278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5885" y="1676251"/>
            <a:ext cx="261336" cy="2613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86828" y="1670844"/>
            <a:ext cx="63496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140+ dB Cockpit Noise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186828" y="2103636"/>
            <a:ext cx="6349643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High-performance aircraft generated deafening SPL — threatening pilot communication and hearing safety.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5885" y="2965896"/>
            <a:ext cx="261336" cy="2613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86828" y="2960489"/>
            <a:ext cx="63496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Mission-Critical Communication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186828" y="3393281"/>
            <a:ext cx="634964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Pilots needed to hear radio transmissions clearly while enduring jet engine roar.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5885" y="3987750"/>
            <a:ext cx="261336" cy="2613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86828" y="3982343"/>
            <a:ext cx="63496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Hearing Damage Prevention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186828" y="4415135"/>
            <a:ext cx="6349643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Prolonged jet noise exposure caused permanent hearing loss in flight crews worldwide.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5885" y="5277396"/>
            <a:ext cx="261336" cy="2613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86828" y="5271988"/>
            <a:ext cx="63496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Military Funding Accelerates Research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5186828" y="5704780"/>
            <a:ext cx="634964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Aerospace investment catalyzed practical, real-time ANC headset development.</a:t>
            </a:r>
            <a:endParaRPr lang="en-US" sz="13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3F367-574C-A0D0-CF50-52654FD87D90}"/>
              </a:ext>
            </a:extLst>
          </p:cNvPr>
          <p:cNvSpPr/>
          <p:nvPr/>
        </p:nvSpPr>
        <p:spPr>
          <a:xfrm>
            <a:off x="11052313" y="6567777"/>
            <a:ext cx="1087491" cy="214686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95735"/>
            <a:ext cx="3504219" cy="244018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514673"/>
            <a:ext cx="1585079" cy="287139"/>
          </a:xfrm>
          <a:prstGeom prst="roundRect">
            <a:avLst>
              <a:gd name="adj" fmla="val 22118"/>
            </a:avLst>
          </a:prstGeom>
          <a:solidFill>
            <a:srgbClr val="DDEEE6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571327"/>
            <a:ext cx="19678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VISIONARY LEADER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877417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Dr. Amar Bose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657078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Founder &amp; Visionary of Bose Corporation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16662" y="3342184"/>
            <a:ext cx="66198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From a frustrating transatlantic flight to revolutionizing how the world experiences sound — one man's insight changed everything.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3172123"/>
            <a:ext cx="25399" cy="944959"/>
          </a:xfrm>
          <a:prstGeom prst="roundRect">
            <a:avLst>
              <a:gd name="adj" fmla="val 50001"/>
            </a:avLst>
          </a:prstGeom>
          <a:solidFill>
            <a:srgbClr val="22443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075" y="4516934"/>
            <a:ext cx="5341605" cy="106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1281" y="4542334"/>
            <a:ext cx="5076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Engineer. Inventor. Visionary.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01281" y="4951016"/>
            <a:ext cx="50764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MIT professor turned world-class audio innovator — Dr. Bose transformed a moment of frustration into a global revolution.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8515" y="4516934"/>
            <a:ext cx="5341705" cy="106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53721" y="4542334"/>
            <a:ext cx="5076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Bose Corporation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453721" y="4951016"/>
            <a:ext cx="50765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Founded 1964 — built on the principle that great science creates great experiences.</a:t>
            </a:r>
            <a:endParaRPr lang="en-US" sz="14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A852C5-37B7-4D8F-F885-67C6B24E90D6}"/>
              </a:ext>
            </a:extLst>
          </p:cNvPr>
          <p:cNvSpPr/>
          <p:nvPr/>
        </p:nvSpPr>
        <p:spPr>
          <a:xfrm>
            <a:off x="11052313" y="6567777"/>
            <a:ext cx="1087491" cy="214686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DEE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945" y="126206"/>
            <a:ext cx="4403615" cy="6605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5661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1978 Flight Concept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61475" y="1276548"/>
            <a:ext cx="168271" cy="1198662"/>
          </a:xfrm>
          <a:prstGeom prst="roundRect">
            <a:avLst>
              <a:gd name="adj" fmla="val 42018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9661" y="1444823"/>
            <a:ext cx="597867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Frustration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79661" y="1797745"/>
            <a:ext cx="5978673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On a transatlantic flight, Dr. Bose's in-flight headphones were drowned out by deafening engine noise.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3980" y="2625130"/>
            <a:ext cx="168271" cy="1198662"/>
          </a:xfrm>
          <a:prstGeom prst="roundRect">
            <a:avLst>
              <a:gd name="adj" fmla="val 42018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2167" y="2793405"/>
            <a:ext cx="572616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Mathematical Insight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232167" y="3146326"/>
            <a:ext cx="572616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Rather than accepting it, he formulated the mathematics of Active Noise Cancellation inside an ear cup — right there on the plane.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166486" y="3973711"/>
            <a:ext cx="168271" cy="1010047"/>
          </a:xfrm>
          <a:prstGeom prst="roundRect">
            <a:avLst>
              <a:gd name="adj" fmla="val 42018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84672" y="4141986"/>
            <a:ext cx="547366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Vision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484672" y="4494907"/>
            <a:ext cx="5473662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"What if we could use electronics to cancel noise rather than block it?"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418991" y="5133677"/>
            <a:ext cx="168271" cy="1198662"/>
          </a:xfrm>
          <a:prstGeom prst="roundRect">
            <a:avLst>
              <a:gd name="adj" fmla="val 42018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37178" y="5301952"/>
            <a:ext cx="5221157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Commitment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737178" y="5654873"/>
            <a:ext cx="5221157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Dr. Bose dedicated Bose Corporation's full resources to transforming theory into practical consumer technology.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491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Prototype to Aviation: 1986–1989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61475" y="1731665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C3D4CC"/>
          </a:solidFill>
          <a:ln/>
        </p:spPr>
      </p:sp>
      <p:sp>
        <p:nvSpPr>
          <p:cNvPr id="4" name="Shape 2"/>
          <p:cNvSpPr/>
          <p:nvPr/>
        </p:nvSpPr>
        <p:spPr>
          <a:xfrm>
            <a:off x="2807622" y="1524992"/>
            <a:ext cx="12700" cy="206673"/>
          </a:xfrm>
          <a:prstGeom prst="roundRect">
            <a:avLst>
              <a:gd name="adj" fmla="val 49999"/>
            </a:avLst>
          </a:prstGeom>
          <a:solidFill>
            <a:srgbClr val="C3D4CC"/>
          </a:solidFill>
          <a:ln/>
        </p:spPr>
      </p:sp>
      <p:sp>
        <p:nvSpPr>
          <p:cNvPr id="5" name="Shape 3"/>
          <p:cNvSpPr/>
          <p:nvPr/>
        </p:nvSpPr>
        <p:spPr>
          <a:xfrm>
            <a:off x="2775228" y="1692920"/>
            <a:ext cx="77488" cy="77490"/>
          </a:xfrm>
          <a:prstGeom prst="ellipse">
            <a:avLst/>
          </a:prstGeom>
          <a:solidFill>
            <a:srgbClr val="224435"/>
          </a:solidFill>
          <a:ln/>
        </p:spPr>
      </p:sp>
      <p:sp>
        <p:nvSpPr>
          <p:cNvPr id="6" name="Text 4"/>
          <p:cNvSpPr/>
          <p:nvPr/>
        </p:nvSpPr>
        <p:spPr>
          <a:xfrm>
            <a:off x="764759" y="970558"/>
            <a:ext cx="4098525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1978–1986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4759" y="1165820"/>
            <a:ext cx="4098525" cy="255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Dedicated engineering division established — focused exclusively on ANC development under Dr. Bose's direction.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95440" y="1731665"/>
            <a:ext cx="12700" cy="206673"/>
          </a:xfrm>
          <a:prstGeom prst="roundRect">
            <a:avLst>
              <a:gd name="adj" fmla="val 49999"/>
            </a:avLst>
          </a:prstGeom>
          <a:solidFill>
            <a:srgbClr val="C3D4CC"/>
          </a:solidFill>
          <a:ln/>
        </p:spPr>
      </p:sp>
      <p:sp>
        <p:nvSpPr>
          <p:cNvPr id="9" name="Shape 7"/>
          <p:cNvSpPr/>
          <p:nvPr/>
        </p:nvSpPr>
        <p:spPr>
          <a:xfrm>
            <a:off x="4963046" y="1692920"/>
            <a:ext cx="77488" cy="77490"/>
          </a:xfrm>
          <a:prstGeom prst="ellipse">
            <a:avLst/>
          </a:prstGeom>
          <a:solidFill>
            <a:srgbClr val="224435"/>
          </a:solidFill>
          <a:ln/>
        </p:spPr>
      </p:sp>
      <p:sp>
        <p:nvSpPr>
          <p:cNvPr id="10" name="Text 8"/>
          <p:cNvSpPr/>
          <p:nvPr/>
        </p:nvSpPr>
        <p:spPr>
          <a:xfrm>
            <a:off x="2952577" y="2041723"/>
            <a:ext cx="4098525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Breakthrough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52577" y="2236986"/>
            <a:ext cx="4098525" cy="255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Feedback microphones inside the ear cup combined with precision analog filters for real-time noise adaptation.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183357" y="1524992"/>
            <a:ext cx="12700" cy="206673"/>
          </a:xfrm>
          <a:prstGeom prst="roundRect">
            <a:avLst>
              <a:gd name="adj" fmla="val 49999"/>
            </a:avLst>
          </a:prstGeom>
          <a:solidFill>
            <a:srgbClr val="C3D4CC"/>
          </a:solidFill>
          <a:ln/>
        </p:spPr>
      </p:sp>
      <p:sp>
        <p:nvSpPr>
          <p:cNvPr id="13" name="Shape 11"/>
          <p:cNvSpPr/>
          <p:nvPr/>
        </p:nvSpPr>
        <p:spPr>
          <a:xfrm>
            <a:off x="7150963" y="1692920"/>
            <a:ext cx="77488" cy="77490"/>
          </a:xfrm>
          <a:prstGeom prst="ellipse">
            <a:avLst/>
          </a:prstGeom>
          <a:solidFill>
            <a:srgbClr val="224435"/>
          </a:solidFill>
          <a:ln/>
        </p:spPr>
      </p:sp>
      <p:sp>
        <p:nvSpPr>
          <p:cNvPr id="14" name="Text 12"/>
          <p:cNvSpPr/>
          <p:nvPr/>
        </p:nvSpPr>
        <p:spPr>
          <a:xfrm>
            <a:off x="5140494" y="970558"/>
            <a:ext cx="4098525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1986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40494" y="1165820"/>
            <a:ext cx="4098525" cy="255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First mission-critical ANC headset prototypes tested and validated in military and commercial cockpits.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371175" y="1731665"/>
            <a:ext cx="12700" cy="206673"/>
          </a:xfrm>
          <a:prstGeom prst="roundRect">
            <a:avLst>
              <a:gd name="adj" fmla="val 49999"/>
            </a:avLst>
          </a:prstGeom>
          <a:solidFill>
            <a:srgbClr val="C3D4CC"/>
          </a:solidFill>
          <a:ln/>
        </p:spPr>
      </p:sp>
      <p:sp>
        <p:nvSpPr>
          <p:cNvPr id="17" name="Shape 15"/>
          <p:cNvSpPr/>
          <p:nvPr/>
        </p:nvSpPr>
        <p:spPr>
          <a:xfrm>
            <a:off x="9338781" y="1692920"/>
            <a:ext cx="77488" cy="77490"/>
          </a:xfrm>
          <a:prstGeom prst="ellipse">
            <a:avLst/>
          </a:prstGeom>
          <a:solidFill>
            <a:srgbClr val="224435"/>
          </a:solidFill>
          <a:ln/>
        </p:spPr>
      </p:sp>
      <p:sp>
        <p:nvSpPr>
          <p:cNvPr id="18" name="Text 16"/>
          <p:cNvSpPr/>
          <p:nvPr/>
        </p:nvSpPr>
        <p:spPr>
          <a:xfrm>
            <a:off x="7328312" y="2041723"/>
            <a:ext cx="4098525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1989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28312" y="2236986"/>
            <a:ext cx="4098525" cy="255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Bose Aviation Headset launches commercially — instantly becomes the gold standard for pilot communication worldwide.</a:t>
            </a:r>
            <a:endParaRPr lang="en-US" sz="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19772"/>
            <a:ext cx="3640046" cy="3640137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560079" y="4235351"/>
            <a:ext cx="6976392" cy="408980"/>
          </a:xfrm>
          <a:prstGeom prst="roundRect">
            <a:avLst>
              <a:gd name="adj" fmla="val 10615"/>
            </a:avLst>
          </a:prstGeom>
          <a:solidFill>
            <a:srgbClr val="DDEEE6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363" y="4317603"/>
            <a:ext cx="129180" cy="10328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895827" y="4311948"/>
            <a:ext cx="6537360" cy="255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Industry Recognition:</a:t>
            </a:r>
            <a:r>
              <a:rPr lang="en-US" sz="8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Dr. Bose's innovation set the definitive benchmark for ANC performance and reliability in high-stakes aviation environments — trusted by militaries and commercial airlines worldwide.</a:t>
            </a:r>
            <a:endParaRPr lang="en-US" sz="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08BCC4-501B-CA1F-E25E-5B0F01D8EC53}"/>
              </a:ext>
            </a:extLst>
          </p:cNvPr>
          <p:cNvSpPr/>
          <p:nvPr/>
        </p:nvSpPr>
        <p:spPr>
          <a:xfrm>
            <a:off x="11052313" y="6567777"/>
            <a:ext cx="1087491" cy="214686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DEE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115" y="112911"/>
            <a:ext cx="4421275" cy="66320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80033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Commercial Headphone Revolution: 2000 &amp; Beyond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661475" y="1701205"/>
            <a:ext cx="6296860" cy="1054199"/>
          </a:xfrm>
          <a:prstGeom prst="roundRect">
            <a:avLst>
              <a:gd name="adj" fmla="val 6001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435" y="1858169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QuietComfort Series (2000)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8435" y="2165449"/>
            <a:ext cx="59829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Dr. Bose brings ANC from specialized aviation into the consumer market — </a:t>
            </a:r>
            <a:r>
              <a:rPr lang="en-US" sz="11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transforming the entire headphone industry overnight.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1475" y="2875359"/>
            <a:ext cx="6296860" cy="1054199"/>
          </a:xfrm>
          <a:prstGeom prst="roundRect">
            <a:avLst>
              <a:gd name="adj" fmla="val 6001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435" y="3032323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Market Impact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8435" y="3339604"/>
            <a:ext cx="59829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ANC becomes the defining feature of premium headphones. Competitors scramble. The industry is forever changed.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4049514"/>
            <a:ext cx="6296860" cy="1054199"/>
          </a:xfrm>
          <a:prstGeom prst="roundRect">
            <a:avLst>
              <a:gd name="adj" fmla="val 6001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435" y="4206478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Accessibility for All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8435" y="4513759"/>
            <a:ext cx="59829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What was exclusive to pilots is now available to commuters, travelers, and everyday listeners everywhere.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5223669"/>
            <a:ext cx="6296860" cy="1054199"/>
          </a:xfrm>
          <a:prstGeom prst="roundRect">
            <a:avLst>
              <a:gd name="adj" fmla="val 6001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435" y="5380633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Enduring Legacy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8435" y="5687913"/>
            <a:ext cx="59829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QuietComfort becomes synonymous with noise cancellation — a testament to Dr. Bose's vision and engineering excellence that continues to this day.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0850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356682" y="318571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For joining us on this journey through the groundbreaking history of Active Noise Cancellation.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44936" y="3984228"/>
            <a:ext cx="1058528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Celebrating Dr. Amar Bose's 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44936" y="4622105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His relentless pursuit transformed a simple idea into a technology that enriches lives worldwide.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700760"/>
            <a:ext cx="25399" cy="1436390"/>
          </a:xfrm>
          <a:prstGeom prst="roundRect">
            <a:avLst>
              <a:gd name="adj" fmla="val 50001"/>
            </a:avLst>
          </a:prstGeom>
          <a:solidFill>
            <a:srgbClr val="224435"/>
          </a:solidFill>
          <a:ln/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12F858-819F-CB4F-24CA-25AE3EA6AAC0}"/>
              </a:ext>
            </a:extLst>
          </p:cNvPr>
          <p:cNvSpPr/>
          <p:nvPr/>
        </p:nvSpPr>
        <p:spPr>
          <a:xfrm>
            <a:off x="11104509" y="6567777"/>
            <a:ext cx="1087491" cy="214686"/>
          </a:xfrm>
          <a:prstGeom prst="rect">
            <a:avLst/>
          </a:prstGeom>
          <a:solidFill>
            <a:srgbClr val="F2F0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874</Words>
  <Application>Microsoft Office PowerPoint</Application>
  <PresentationFormat>Widescreen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Syne Bold</vt:lpstr>
      <vt:lpstr>Overpass Light</vt:lpstr>
      <vt:lpstr>Arial</vt:lpstr>
      <vt:lpstr>Calibri</vt:lpstr>
      <vt:lpstr>Overpass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Hemant Bansal</cp:lastModifiedBy>
  <cp:revision>1</cp:revision>
  <dcterms:created xsi:type="dcterms:W3CDTF">2026-08-25T17:01:18Z</dcterms:created>
  <dcterms:modified xsi:type="dcterms:W3CDTF">2026-08-25T17:07:15Z</dcterms:modified>
</cp:coreProperties>
</file>